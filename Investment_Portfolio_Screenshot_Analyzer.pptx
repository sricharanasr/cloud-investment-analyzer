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rved, white arches on a grey reflective floor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ow angle view of a tall building with mirrored glass windows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rtial view of a ceiling with wood panelling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rridor of an open-air stone building under a pink and purple sky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close-up of a curved roof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 angle view of a metal spiral staircase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istic, white corridor with shadows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 Cloud-Based FinTech Analytics System Using Microsoft Azure</a:t>
            </a:r>
          </a:p>
        </p:txBody>
      </p:sp>
      <p:sp>
        <p:nvSpPr>
          <p:cNvPr id="173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Investment Portfolio Screenshot Analyzer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Growth of digital trading platforms has increased retail investing.</a:t>
            </a:r>
          </a:p>
          <a:p>
            <a:pPr defTabSz="429259">
              <a:defRPr sz="2859"/>
            </a:pPr>
            <a:r>
              <a:t>Many users rely on screenshots to track portfolios.</a:t>
            </a:r>
          </a:p>
          <a:p>
            <a:pPr defTabSz="429259">
              <a:defRPr sz="2859"/>
            </a:pPr>
            <a:r>
              <a:t> Lack of tools for automated portfolio analysis.</a:t>
            </a:r>
          </a:p>
          <a:p>
            <a:pPr defTabSz="429259">
              <a:defRPr sz="2859"/>
            </a:pPr>
            <a:r>
              <a:t> This project uses cloud and AI to extract and analyze investment data.</a:t>
            </a:r>
          </a:p>
        </p:txBody>
      </p:sp>
      <p:sp>
        <p:nvSpPr>
          <p:cNvPr id="177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Investors store portfolio data as screenshots.</a:t>
            </a:r>
          </a:p>
          <a:p>
            <a:pPr defTabSz="429259">
              <a:defRPr sz="2859"/>
            </a:pPr>
            <a:r>
              <a:t>Manual interpretation is inefficient and error-prone.</a:t>
            </a:r>
          </a:p>
          <a:p>
            <a:pPr defTabSz="429259">
              <a:defRPr sz="2859"/>
            </a:pPr>
            <a:r>
              <a:t>Limited visibility into diversification and risk exposure.</a:t>
            </a:r>
          </a:p>
          <a:p>
            <a:pPr defTabSz="429259">
              <a:defRPr sz="2859"/>
            </a:pPr>
            <a:r>
              <a:t>Need for an automated cloud-based analytics solution.</a:t>
            </a:r>
          </a:p>
        </p:txBody>
      </p:sp>
      <p:sp>
        <p:nvSpPr>
          <p:cNvPr id="181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 Statement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46709">
              <a:defRPr sz="2309"/>
            </a:pPr>
            <a:r>
              <a:t>Extract structured data from portfolio screenshots.</a:t>
            </a:r>
          </a:p>
          <a:p>
            <a:pPr defTabSz="346709">
              <a:defRPr sz="2309"/>
            </a:pPr>
            <a:r>
              <a:t>Securely store financial data in the cloud.</a:t>
            </a:r>
          </a:p>
          <a:p>
            <a:pPr defTabSz="346709">
              <a:defRPr sz="2309"/>
            </a:pPr>
            <a:r>
              <a:t>Analyze asset allocation and diversification.</a:t>
            </a:r>
          </a:p>
          <a:p>
            <a:pPr defTabSz="346709">
              <a:defRPr sz="2309"/>
            </a:pPr>
            <a:r>
              <a:t>Generate portfolio insights.</a:t>
            </a:r>
          </a:p>
          <a:p>
            <a:pPr defTabSz="346709">
              <a:defRPr sz="2309"/>
            </a:pPr>
            <a:r>
              <a:t>Demonstrate real-world fintech cloud architecture.</a:t>
            </a:r>
          </a:p>
        </p:txBody>
      </p:sp>
      <p:sp>
        <p:nvSpPr>
          <p:cNvPr id="185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Objectives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46709">
              <a:defRPr sz="2309"/>
            </a:pPr>
            <a:r>
              <a:t>Users upload portfolio screenshots.</a:t>
            </a:r>
          </a:p>
          <a:p>
            <a:pPr defTabSz="346709">
              <a:defRPr sz="2309"/>
            </a:pPr>
            <a:r>
              <a:t>AI extracts stock details.</a:t>
            </a:r>
          </a:p>
          <a:p>
            <a:pPr defTabSz="346709">
              <a:defRPr sz="2309"/>
            </a:pPr>
            <a:r>
              <a:t>Data is stored in a cloud database.</a:t>
            </a:r>
          </a:p>
          <a:p>
            <a:pPr defTabSz="346709">
              <a:defRPr sz="2309"/>
            </a:pPr>
            <a:r>
              <a:t>Analytics engine calculates allocation and risk.</a:t>
            </a:r>
          </a:p>
          <a:p>
            <a:pPr defTabSz="346709">
              <a:defRPr sz="2309"/>
            </a:pPr>
            <a:r>
              <a:t>Insights are displayed via dashboard.</a:t>
            </a:r>
          </a:p>
        </p:txBody>
      </p:sp>
      <p:sp>
        <p:nvSpPr>
          <p:cNvPr id="189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30200">
              <a:defRPr sz="2200"/>
            </a:pPr>
            <a:r>
              <a:t>Architecture follows a serverless, event-driven design:</a:t>
            </a:r>
          </a:p>
          <a:p>
            <a:pPr defTabSz="330200">
              <a:defRPr sz="2200"/>
            </a:pPr>
          </a:p>
          <a:p>
            <a:pPr defTabSz="330200">
              <a:defRPr sz="2200"/>
            </a:pPr>
            <a:r>
              <a:t>AI Layer – Text extraction</a:t>
            </a:r>
          </a:p>
          <a:p>
            <a:pPr defTabSz="330200">
              <a:defRPr sz="2200"/>
            </a:pPr>
            <a:r>
              <a:t>Storage Layer – Image storage</a:t>
            </a:r>
          </a:p>
          <a:p>
            <a:pPr defTabSz="330200">
              <a:defRPr sz="2200"/>
            </a:pPr>
            <a:r>
              <a:t>Compute Layer – Backend processing</a:t>
            </a:r>
          </a:p>
          <a:p>
            <a:pPr defTabSz="330200">
              <a:defRPr sz="2200"/>
            </a:pPr>
            <a:r>
              <a:t>Data Layer – Structured records</a:t>
            </a:r>
          </a:p>
          <a:p>
            <a:pPr defTabSz="330200">
              <a:defRPr sz="2200"/>
            </a:pPr>
            <a:r>
              <a:t>Security Layer – Secrets management</a:t>
            </a:r>
          </a:p>
          <a:p>
            <a:pPr defTabSz="330200">
              <a:defRPr sz="2200"/>
            </a:pPr>
            <a:r>
              <a:t>Monitoring Layer – System health</a:t>
            </a:r>
          </a:p>
        </p:txBody>
      </p:sp>
      <p:sp>
        <p:nvSpPr>
          <p:cNvPr id="193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Cloud Architecture 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Performs OCR on screenshots.</a:t>
            </a:r>
          </a:p>
          <a:p>
            <a:pPr defTabSz="429259">
              <a:defRPr sz="2859"/>
            </a:pPr>
            <a:r>
              <a:t>Extracts stock names, quantities, prices, and values.</a:t>
            </a:r>
          </a:p>
          <a:p>
            <a:pPr defTabSz="429259">
              <a:defRPr sz="2859"/>
            </a:pPr>
            <a:r>
              <a:t>Converts unstructured images into structured financial datasets.</a:t>
            </a:r>
          </a:p>
          <a:p>
            <a:pPr defTabSz="429259">
              <a:defRPr sz="2859"/>
            </a:pPr>
            <a:r>
              <a:t>Enables intelligent fintech analytics.</a:t>
            </a:r>
          </a:p>
        </p:txBody>
      </p:sp>
      <p:sp>
        <p:nvSpPr>
          <p:cNvPr id="197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Layer – Azure AI Vision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Stores uploaded screenshots.</a:t>
            </a:r>
          </a:p>
          <a:p>
            <a:pPr defTabSz="429259">
              <a:defRPr sz="2859"/>
            </a:pPr>
            <a:r>
              <a:t>Maintains historical investment images.</a:t>
            </a:r>
          </a:p>
          <a:p>
            <a:pPr defTabSz="429259">
              <a:defRPr sz="2859"/>
            </a:pPr>
            <a:r>
              <a:t>Provides scalable and cost-efficient object storage.</a:t>
            </a:r>
          </a:p>
          <a:p>
            <a:pPr defTabSz="429259">
              <a:defRPr sz="2859"/>
            </a:pPr>
            <a:r>
              <a:t>Ideal for binary large objects such as images.</a:t>
            </a:r>
          </a:p>
        </p:txBody>
      </p:sp>
      <p:sp>
        <p:nvSpPr>
          <p:cNvPr id="201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Storage Layer – Azure Blob Storage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Stores structured portfolio data.</a:t>
            </a:r>
          </a:p>
          <a:p>
            <a:pPr defTabSz="429259">
              <a:defRPr sz="2859"/>
            </a:pPr>
            <a:r>
              <a:t>Includes stock symbols, allocation %, and risk scores.</a:t>
            </a:r>
          </a:p>
          <a:p>
            <a:pPr defTabSz="429259">
              <a:defRPr sz="2859"/>
            </a:pPr>
            <a:r>
              <a:t>Offers low-latency access.</a:t>
            </a:r>
          </a:p>
          <a:p>
            <a:pPr defTabSz="429259">
              <a:defRPr sz="2859"/>
            </a:pPr>
            <a:r>
              <a:t>Flexible schema supports financial analytics.</a:t>
            </a:r>
          </a:p>
        </p:txBody>
      </p:sp>
      <p:sp>
        <p:nvSpPr>
          <p:cNvPr id="205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Layer – Azure Cosmos DB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46709">
              <a:defRPr sz="2309"/>
            </a:pPr>
            <a:r>
              <a:t>Implements serverless backend logic.</a:t>
            </a:r>
          </a:p>
          <a:p>
            <a:pPr defTabSz="346709">
              <a:defRPr sz="2309"/>
            </a:pPr>
            <a:r>
              <a:t>Triggered automatically after upload.</a:t>
            </a:r>
          </a:p>
          <a:p>
            <a:pPr defTabSz="346709">
              <a:defRPr sz="2309"/>
            </a:pPr>
            <a:r>
              <a:t>Calls AI service for extraction.</a:t>
            </a:r>
          </a:p>
          <a:p>
            <a:pPr defTabSz="346709">
              <a:defRPr sz="2309"/>
            </a:pPr>
            <a:r>
              <a:t>Processes and stores analyzed data.</a:t>
            </a:r>
          </a:p>
          <a:p>
            <a:pPr defTabSz="346709">
              <a:defRPr sz="2309"/>
            </a:pPr>
            <a:r>
              <a:t>Supports scalable event-driven workflows.</a:t>
            </a:r>
          </a:p>
        </p:txBody>
      </p:sp>
      <p:sp>
        <p:nvSpPr>
          <p:cNvPr id="209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Compute Layer – Azure Functions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Securely stores API keys and credentials.</a:t>
            </a:r>
          </a:p>
          <a:p>
            <a:pPr defTabSz="429259">
              <a:defRPr sz="2859"/>
            </a:pPr>
            <a:r>
              <a:t>Protects sensitive financial data.</a:t>
            </a:r>
          </a:p>
          <a:p>
            <a:pPr defTabSz="429259">
              <a:defRPr sz="2859"/>
            </a:pPr>
            <a:r>
              <a:t>Centralized secrets management.</a:t>
            </a:r>
          </a:p>
          <a:p>
            <a:pPr defTabSz="429259">
              <a:defRPr sz="2859"/>
            </a:pPr>
            <a:r>
              <a:t>Aligns with fintech security best practices.</a:t>
            </a:r>
          </a:p>
        </p:txBody>
      </p:sp>
      <p:sp>
        <p:nvSpPr>
          <p:cNvPr id="213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Security Layer – Azure Key Vault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6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Tracks system performance.</a:t>
            </a:r>
          </a:p>
          <a:p>
            <a:pPr defTabSz="429259">
              <a:defRPr sz="2859"/>
            </a:pPr>
            <a:r>
              <a:t>Detects failures and latency.</a:t>
            </a:r>
          </a:p>
          <a:p>
            <a:pPr defTabSz="429259">
              <a:defRPr sz="2859"/>
            </a:pPr>
            <a:r>
              <a:t>Provides operational visibility.</a:t>
            </a:r>
          </a:p>
          <a:p>
            <a:pPr defTabSz="429259">
              <a:defRPr sz="2859"/>
            </a:pPr>
            <a:r>
              <a:t>Improves reliability.</a:t>
            </a:r>
          </a:p>
        </p:txBody>
      </p:sp>
      <p:sp>
        <p:nvSpPr>
          <p:cNvPr id="217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Monitoring – Azure Monitor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• Triggers backend workflows when screenshots are uploaded.</a:t>
            </a:r>
          </a:p>
          <a:p>
            <a:pPr defTabSz="429259">
              <a:defRPr sz="2859"/>
            </a:pPr>
            <a:r>
              <a:t>• Improves scalability.</a:t>
            </a:r>
          </a:p>
          <a:p>
            <a:pPr defTabSz="429259">
              <a:defRPr sz="2859"/>
            </a:pPr>
            <a:r>
              <a:t>• Enables loosely coupled architecture.</a:t>
            </a:r>
          </a:p>
          <a:p>
            <a:pPr defTabSz="429259">
              <a:defRPr sz="2859"/>
            </a:pPr>
            <a:r>
              <a:t>• Supports real-time processing.</a:t>
            </a:r>
          </a:p>
        </p:txBody>
      </p:sp>
      <p:sp>
        <p:nvSpPr>
          <p:cNvPr id="221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Event Processing – Azure Event Grid (Optional)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30200">
              <a:defRPr sz="2200"/>
            </a:pPr>
            <a:r>
              <a:t>1. User uploads screenshot.</a:t>
            </a:r>
          </a:p>
          <a:p>
            <a:pPr defTabSz="330200">
              <a:defRPr sz="2200"/>
            </a:pPr>
            <a:r>
              <a:t>2. Image stored in Blob Storage.</a:t>
            </a:r>
          </a:p>
          <a:p>
            <a:pPr defTabSz="330200">
              <a:defRPr sz="2200"/>
            </a:pPr>
            <a:r>
              <a:t>3. Function is triggered.</a:t>
            </a:r>
          </a:p>
          <a:p>
            <a:pPr defTabSz="330200">
              <a:defRPr sz="2200"/>
            </a:pPr>
            <a:r>
              <a:t>4. AI extracts financial data.</a:t>
            </a:r>
          </a:p>
          <a:p>
            <a:pPr defTabSz="330200">
              <a:defRPr sz="2200"/>
            </a:pPr>
            <a:r>
              <a:t>5. Data processed and stored in Cosmos DB.</a:t>
            </a:r>
          </a:p>
          <a:p>
            <a:pPr defTabSz="330200">
              <a:defRPr sz="2200"/>
            </a:pPr>
            <a:r>
              <a:t>6. Insights displayed to the user.</a:t>
            </a:r>
          </a:p>
        </p:txBody>
      </p:sp>
      <p:sp>
        <p:nvSpPr>
          <p:cNvPr id="225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Flow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46709">
              <a:defRPr sz="2309"/>
            </a:pPr>
            <a:r>
              <a:t>• Automated investment data extraction.</a:t>
            </a:r>
          </a:p>
          <a:p>
            <a:pPr defTabSz="346709">
              <a:defRPr sz="2309"/>
            </a:pPr>
            <a:r>
              <a:t>• Portfolio diversification analysis.</a:t>
            </a:r>
          </a:p>
          <a:p>
            <a:pPr defTabSz="346709">
              <a:defRPr sz="2309"/>
            </a:pPr>
            <a:r>
              <a:t>• Asset allocation visualization.</a:t>
            </a:r>
          </a:p>
          <a:p>
            <a:pPr defTabSz="346709">
              <a:defRPr sz="2309"/>
            </a:pPr>
            <a:r>
              <a:t>• Secure cloud storage.</a:t>
            </a:r>
          </a:p>
          <a:p>
            <a:pPr defTabSz="346709">
              <a:defRPr sz="2309"/>
            </a:pPr>
            <a:r>
              <a:t>• Scalable serverless backend.</a:t>
            </a:r>
          </a:p>
        </p:txBody>
      </p:sp>
      <p:sp>
        <p:nvSpPr>
          <p:cNvPr id="229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46709">
              <a:defRPr sz="2309"/>
            </a:pPr>
            <a:r>
              <a:t>• Eliminates manual portfolio analysis.</a:t>
            </a:r>
          </a:p>
          <a:p>
            <a:pPr defTabSz="346709">
              <a:defRPr sz="2309"/>
            </a:pPr>
            <a:r>
              <a:t>• Provides quick financial insights.</a:t>
            </a:r>
          </a:p>
          <a:p>
            <a:pPr defTabSz="346709">
              <a:defRPr sz="2309"/>
            </a:pPr>
            <a:r>
              <a:t>• Cloud-native and scalable.</a:t>
            </a:r>
          </a:p>
          <a:p>
            <a:pPr defTabSz="346709">
              <a:defRPr sz="2309"/>
            </a:pPr>
            <a:r>
              <a:t>• Secure data handling.</a:t>
            </a:r>
          </a:p>
          <a:p>
            <a:pPr defTabSz="346709">
              <a:defRPr sz="2309"/>
            </a:pPr>
            <a:r>
              <a:t>• Real-world fintech relevance.</a:t>
            </a:r>
          </a:p>
        </p:txBody>
      </p:sp>
      <p:sp>
        <p:nvSpPr>
          <p:cNvPr id="233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Advantages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6104">
              <a:defRPr sz="3905"/>
            </a:pPr>
            <a:r>
              <a:t>• OCR accuracy depends on screenshot quality.</a:t>
            </a:r>
          </a:p>
          <a:p>
            <a:pPr defTabSz="586104">
              <a:defRPr sz="3905"/>
            </a:pPr>
            <a:r>
              <a:t>• No direct brokerage API integration.</a:t>
            </a:r>
          </a:p>
          <a:p>
            <a:pPr defTabSz="586104">
              <a:defRPr sz="3905"/>
            </a:pPr>
            <a:r>
              <a:t>• Risk analysis is rule-based.</a:t>
            </a:r>
          </a:p>
        </p:txBody>
      </p:sp>
      <p:sp>
        <p:nvSpPr>
          <p:cNvPr id="237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Limitations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29259">
              <a:defRPr sz="2859"/>
            </a:pPr>
            <a:r>
              <a:t>• Predictive analytics using machine learning.</a:t>
            </a:r>
          </a:p>
          <a:p>
            <a:pPr defTabSz="429259">
              <a:defRPr sz="2859"/>
            </a:pPr>
            <a:r>
              <a:t>• Advanced portfolio risk modeling.</a:t>
            </a:r>
          </a:p>
          <a:p>
            <a:pPr defTabSz="429259">
              <a:defRPr sz="2859"/>
            </a:pPr>
            <a:r>
              <a:t>• Automated investment recommendations.</a:t>
            </a:r>
          </a:p>
          <a:p>
            <a:pPr defTabSz="429259">
              <a:defRPr sz="2859"/>
            </a:pPr>
            <a:r>
              <a:t>• Multi-market support.</a:t>
            </a:r>
          </a:p>
        </p:txBody>
      </p:sp>
      <p:sp>
        <p:nvSpPr>
          <p:cNvPr id="241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Future Enhancements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4" name="Content Placeholder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defTabSz="586104">
              <a:defRPr sz="3905"/>
            </a:lvl1pPr>
          </a:lstStyle>
          <a:p>
            <a:pPr/>
            <a:r>
              <a:t>The project demonstrates how cloud computing and AI can transform unstructured financial images into actionable insights. It showcases scalable architecture, secure data handling, and practical fintech innovation.</a:t>
            </a:r>
          </a:p>
        </p:txBody>
      </p:sp>
      <p:sp>
        <p:nvSpPr>
          <p:cNvPr id="245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